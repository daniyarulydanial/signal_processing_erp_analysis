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63" r:id="rId3"/>
    <p:sldId id="272" r:id="rId4"/>
    <p:sldId id="269" r:id="rId5"/>
    <p:sldId id="264" r:id="rId6"/>
    <p:sldId id="271" r:id="rId7"/>
    <p:sldId id="266" r:id="rId8"/>
    <p:sldId id="270" r:id="rId9"/>
    <p:sldId id="267" r:id="rId10"/>
    <p:sldId id="268" r:id="rId11"/>
    <p:sldId id="265" r:id="rId12"/>
    <p:sldId id="275" r:id="rId13"/>
    <p:sldId id="273" r:id="rId14"/>
    <p:sldId id="27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al Daniyaruly" userId="bf7fd444654b27dd" providerId="LiveId" clId="{25A15876-EC3A-4528-9AC8-50BE883EC7AA}"/>
    <pc:docChg chg="undo custSel addSld delSld modSld">
      <pc:chgData name="Danial Daniyaruly" userId="bf7fd444654b27dd" providerId="LiveId" clId="{25A15876-EC3A-4528-9AC8-50BE883EC7AA}" dt="2025-12-10T14:58:30.034" v="432" actId="113"/>
      <pc:docMkLst>
        <pc:docMk/>
      </pc:docMkLst>
      <pc:sldChg chg="modSp new del">
        <pc:chgData name="Danial Daniyaruly" userId="bf7fd444654b27dd" providerId="LiveId" clId="{25A15876-EC3A-4528-9AC8-50BE883EC7AA}" dt="2025-11-08T09:39:36.490" v="10" actId="2696"/>
        <pc:sldMkLst>
          <pc:docMk/>
          <pc:sldMk cId="65671862" sldId="256"/>
        </pc:sldMkLst>
      </pc:sldChg>
      <pc:sldChg chg="modSp new del">
        <pc:chgData name="Danial Daniyaruly" userId="bf7fd444654b27dd" providerId="LiveId" clId="{25A15876-EC3A-4528-9AC8-50BE883EC7AA}" dt="2025-11-08T09:39:39.855" v="11" actId="2696"/>
        <pc:sldMkLst>
          <pc:docMk/>
          <pc:sldMk cId="283154795" sldId="257"/>
        </pc:sldMkLst>
      </pc:sldChg>
      <pc:sldChg chg="modSp new del">
        <pc:chgData name="Danial Daniyaruly" userId="bf7fd444654b27dd" providerId="LiveId" clId="{25A15876-EC3A-4528-9AC8-50BE883EC7AA}" dt="2025-11-08T09:39:41.964" v="12" actId="2696"/>
        <pc:sldMkLst>
          <pc:docMk/>
          <pc:sldMk cId="1948181212" sldId="258"/>
        </pc:sldMkLst>
      </pc:sldChg>
      <pc:sldChg chg="modSp new del">
        <pc:chgData name="Danial Daniyaruly" userId="bf7fd444654b27dd" providerId="LiveId" clId="{25A15876-EC3A-4528-9AC8-50BE883EC7AA}" dt="2025-11-08T09:39:43.698" v="13" actId="2696"/>
        <pc:sldMkLst>
          <pc:docMk/>
          <pc:sldMk cId="625286856" sldId="259"/>
        </pc:sldMkLst>
      </pc:sldChg>
      <pc:sldChg chg="modSp new del">
        <pc:chgData name="Danial Daniyaruly" userId="bf7fd444654b27dd" providerId="LiveId" clId="{25A15876-EC3A-4528-9AC8-50BE883EC7AA}" dt="2025-11-08T09:39:45.504" v="14" actId="2696"/>
        <pc:sldMkLst>
          <pc:docMk/>
          <pc:sldMk cId="2226126014" sldId="260"/>
        </pc:sldMkLst>
      </pc:sldChg>
      <pc:sldChg chg="addSp modSp new mod">
        <pc:chgData name="Danial Daniyaruly" userId="bf7fd444654b27dd" providerId="LiveId" clId="{25A15876-EC3A-4528-9AC8-50BE883EC7AA}" dt="2025-12-10T14:58:30.034" v="432" actId="113"/>
        <pc:sldMkLst>
          <pc:docMk/>
          <pc:sldMk cId="1054562134" sldId="261"/>
        </pc:sldMkLst>
        <pc:spChg chg="mod">
          <ac:chgData name="Danial Daniyaruly" userId="bf7fd444654b27dd" providerId="LiveId" clId="{25A15876-EC3A-4528-9AC8-50BE883EC7AA}" dt="2025-12-10T14:55:38.827" v="265" actId="1076"/>
          <ac:spMkLst>
            <pc:docMk/>
            <pc:sldMk cId="1054562134" sldId="261"/>
            <ac:spMk id="3" creationId="{D52CBEBB-315D-9FD1-E6C7-B23D93A7F7F9}"/>
          </ac:spMkLst>
        </pc:spChg>
        <pc:spChg chg="add mod">
          <ac:chgData name="Danial Daniyaruly" userId="bf7fd444654b27dd" providerId="LiveId" clId="{25A15876-EC3A-4528-9AC8-50BE883EC7AA}" dt="2025-12-10T14:58:30.034" v="432" actId="113"/>
          <ac:spMkLst>
            <pc:docMk/>
            <pc:sldMk cId="1054562134" sldId="261"/>
            <ac:spMk id="4" creationId="{C2FAD862-633A-C55F-C523-293FB45ECC92}"/>
          </ac:spMkLst>
        </pc:spChg>
      </pc:sldChg>
      <pc:sldChg chg="modSp new mod">
        <pc:chgData name="Danial Daniyaruly" userId="bf7fd444654b27dd" providerId="LiveId" clId="{25A15876-EC3A-4528-9AC8-50BE883EC7AA}" dt="2025-11-08T09:50:11.359" v="234" actId="20577"/>
        <pc:sldMkLst>
          <pc:docMk/>
          <pc:sldMk cId="1759116358" sldId="262"/>
        </pc:sldMkLst>
      </pc:sldChg>
      <pc:sldChg chg="modSp new mod">
        <pc:chgData name="Danial Daniyaruly" userId="bf7fd444654b27dd" providerId="LiveId" clId="{25A15876-EC3A-4528-9AC8-50BE883EC7AA}" dt="2025-12-10T14:56:03.044" v="272" actId="20577"/>
        <pc:sldMkLst>
          <pc:docMk/>
          <pc:sldMk cId="1813575314" sldId="263"/>
        </pc:sldMkLst>
        <pc:spChg chg="mod">
          <ac:chgData name="Danial Daniyaruly" userId="bf7fd444654b27dd" providerId="LiveId" clId="{25A15876-EC3A-4528-9AC8-50BE883EC7AA}" dt="2025-12-10T14:56:03.044" v="272" actId="20577"/>
          <ac:spMkLst>
            <pc:docMk/>
            <pc:sldMk cId="1813575314" sldId="263"/>
            <ac:spMk id="5" creationId="{DD212A4E-0946-BF50-1C2A-39BF9F85C31C}"/>
          </ac:spMkLst>
        </pc:spChg>
      </pc:sldChg>
      <pc:sldChg chg="new">
        <pc:chgData name="Danial Daniyaruly" userId="bf7fd444654b27dd" providerId="LiveId" clId="{25A15876-EC3A-4528-9AC8-50BE883EC7AA}" dt="2025-11-08T09:39:50.707" v="17" actId="680"/>
        <pc:sldMkLst>
          <pc:docMk/>
          <pc:sldMk cId="1939519621" sldId="264"/>
        </pc:sldMkLst>
      </pc:sldChg>
      <pc:sldChg chg="new">
        <pc:chgData name="Danial Daniyaruly" userId="bf7fd444654b27dd" providerId="LiveId" clId="{25A15876-EC3A-4528-9AC8-50BE883EC7AA}" dt="2025-11-08T09:39:50.932" v="18" actId="680"/>
        <pc:sldMkLst>
          <pc:docMk/>
          <pc:sldMk cId="4006848174" sldId="265"/>
        </pc:sldMkLst>
      </pc:sldChg>
      <pc:sldChg chg="modSp add mod">
        <pc:chgData name="Danial Daniyaruly" userId="bf7fd444654b27dd" providerId="LiveId" clId="{25A15876-EC3A-4528-9AC8-50BE883EC7AA}" dt="2025-11-08T09:50:35.782" v="240" actId="20577"/>
        <pc:sldMkLst>
          <pc:docMk/>
          <pc:sldMk cId="1269524186" sldId="266"/>
        </pc:sldMkLst>
      </pc:sldChg>
      <pc:sldMasterChg chg="delSldLayout">
        <pc:chgData name="Danial Daniyaruly" userId="bf7fd444654b27dd" providerId="LiveId" clId="{25A15876-EC3A-4528-9AC8-50BE883EC7AA}" dt="2025-11-08T09:39:45.504" v="14" actId="2696"/>
        <pc:sldMasterMkLst>
          <pc:docMk/>
          <pc:sldMasterMk cId="2253554066" sldId="2147483684"/>
        </pc:sldMasterMkLst>
        <pc:sldLayoutChg chg="del">
          <pc:chgData name="Danial Daniyaruly" userId="bf7fd444654b27dd" providerId="LiveId" clId="{25A15876-EC3A-4528-9AC8-50BE883EC7AA}" dt="2025-11-08T09:39:45.504" v="14" actId="2696"/>
          <pc:sldLayoutMkLst>
            <pc:docMk/>
            <pc:sldMasterMk cId="2253554066" sldId="2147483684"/>
            <pc:sldLayoutMk cId="1109619375" sldId="214748370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98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9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5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5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35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1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212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17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00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59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75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1512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9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09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54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1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3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ABBA920-F0CB-40BA-9973-77E6353F59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8A9E8F6-89A9-4A04-A678-37ED9597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54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8E44-B79C-BC2B-B0AD-F36D73376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60255"/>
            <a:ext cx="8995545" cy="1787168"/>
          </a:xfrm>
        </p:spPr>
        <p:txBody>
          <a:bodyPr>
            <a:normAutofit fontScale="90000"/>
          </a:bodyPr>
          <a:lstStyle/>
          <a:p>
            <a:r>
              <a:rPr lang="en-US" dirty="0"/>
              <a:t>COG-BCI dataset</a:t>
            </a:r>
            <a:br>
              <a:rPr lang="en-US" dirty="0"/>
            </a:br>
            <a:r>
              <a:rPr lang="en-US" dirty="0"/>
              <a:t>ERP analysis on the two-back test from 3 subjects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CBEBB-315D-9FD1-E6C7-B23D93A7F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3796" y="6320673"/>
            <a:ext cx="8689976" cy="53732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KBTU Student: Daniyaruly Danial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AD862-633A-C55F-C523-293FB45ECC92}"/>
              </a:ext>
            </a:extLst>
          </p:cNvPr>
          <p:cNvSpPr txBox="1"/>
          <p:nvPr/>
        </p:nvSpPr>
        <p:spPr>
          <a:xfrm>
            <a:off x="1238438" y="2177591"/>
            <a:ext cx="100206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Portable, multimodal cognitive dataset recorded during a visual TWOBACK task.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processed EEG subset: </a:t>
            </a:r>
            <a:r>
              <a:rPr lang="en-US" b="1" dirty="0"/>
              <a:t>3 participants </a:t>
            </a:r>
            <a:r>
              <a:rPr lang="en-US" dirty="0"/>
              <a:t>(files: </a:t>
            </a:r>
            <a:r>
              <a:rPr lang="en-US" b="1" dirty="0"/>
              <a:t>sub-01_ses-01, sub-03_ses-01, sub-04_ses-01</a:t>
            </a:r>
            <a:r>
              <a:rPr lang="en-US" dirty="0"/>
              <a:t>) plus a created </a:t>
            </a:r>
            <a:r>
              <a:rPr lang="en-US" dirty="0" err="1"/>
              <a:t>grand_avg_all</a:t>
            </a:r>
            <a:r>
              <a:rPr lang="en-US" dirty="0"/>
              <a:t> for QA. </a:t>
            </a:r>
            <a:r>
              <a:rPr lang="en-US" b="1" dirty="0"/>
              <a:t>Subject 2 had a lot of noisy data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Pipeline exported ERPs for </a:t>
            </a:r>
            <a:r>
              <a:rPr lang="en-US" b="1" dirty="0"/>
              <a:t>10 bins (task events); </a:t>
            </a:r>
            <a:r>
              <a:rPr lang="en-US" dirty="0"/>
              <a:t>primary stimulus bins used here are </a:t>
            </a:r>
            <a:r>
              <a:rPr lang="en-US" b="1" dirty="0"/>
              <a:t>B5 (6221) - Normal Trial Onset, B6 (6222) - Hit Trial Onset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EEG montage: </a:t>
            </a:r>
            <a:r>
              <a:rPr lang="en-US" b="1" dirty="0"/>
              <a:t>62 channels </a:t>
            </a:r>
            <a:r>
              <a:rPr lang="en-US" dirty="0"/>
              <a:t>(variable across recordings; channels aligned where possible for grand-average).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Trial counts:</a:t>
            </a:r>
            <a:br>
              <a:rPr lang="en-US" dirty="0"/>
            </a:br>
            <a:r>
              <a:rPr lang="en-US" dirty="0"/>
              <a:t>A strict rule was applied: </a:t>
            </a:r>
            <a:r>
              <a:rPr lang="en-US" b="1" dirty="0"/>
              <a:t>MIN_TRIALS ≥ 30 per condition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After filtering, only </a:t>
            </a:r>
            <a:r>
              <a:rPr lang="en-US" b="1" dirty="0"/>
              <a:t>Hit</a:t>
            </a:r>
            <a:r>
              <a:rPr lang="en-US" dirty="0"/>
              <a:t> and </a:t>
            </a:r>
            <a:r>
              <a:rPr lang="en-US" b="1" dirty="0"/>
              <a:t>Normal</a:t>
            </a:r>
            <a:r>
              <a:rPr lang="en-US" dirty="0"/>
              <a:t> had ≥ 3 subjects with sufficient trials at </a:t>
            </a:r>
            <a:r>
              <a:rPr lang="en-US" b="1" dirty="0" err="1"/>
              <a:t>Pz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Other bins (</a:t>
            </a:r>
            <a:r>
              <a:rPr lang="en-US" dirty="0" err="1"/>
              <a:t>CorrectResp</a:t>
            </a:r>
            <a:r>
              <a:rPr lang="en-US" dirty="0"/>
              <a:t>, </a:t>
            </a:r>
            <a:r>
              <a:rPr lang="en-US" dirty="0" err="1"/>
              <a:t>ConflictErr</a:t>
            </a:r>
            <a:r>
              <a:rPr lang="en-US" dirty="0"/>
              <a:t>) had too few usable trials.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Preprocessing and Visualization were done on </a:t>
            </a:r>
            <a:r>
              <a:rPr lang="en-US" b="1" dirty="0"/>
              <a:t>EEGLAB</a:t>
            </a:r>
            <a:r>
              <a:rPr lang="en-US" dirty="0"/>
              <a:t> and </a:t>
            </a:r>
            <a:r>
              <a:rPr lang="en-US" b="1" dirty="0"/>
              <a:t>ERPLAB</a:t>
            </a:r>
            <a:r>
              <a:rPr lang="en-US" dirty="0"/>
              <a:t>. Tests and Statistics were done on </a:t>
            </a:r>
            <a:r>
              <a:rPr lang="en-US" b="1" dirty="0"/>
              <a:t>Python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4562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C469-CACE-6655-BFE8-AFB9A9BD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528" y="128324"/>
            <a:ext cx="8974943" cy="795504"/>
          </a:xfrm>
        </p:spPr>
        <p:txBody>
          <a:bodyPr/>
          <a:lstStyle/>
          <a:p>
            <a:r>
              <a:rPr lang="en-US" dirty="0"/>
              <a:t>Preprocessing steps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212A4E-0946-BF50-1C2A-39BF9F85C31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46375" y="1350176"/>
            <a:ext cx="8125905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Downsample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250 Hz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Hz high-pass filter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(removes slow drift)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CleanLine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 Hz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(line noise removal)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bad-channel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(2-SD threshold) + interpolation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ICA decomposition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runica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extended)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ICLabel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auto-removal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artifacts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 Eye / Muscle / Heart components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 ≥ 0.90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Epoching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−200 to 800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around stimulus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 correction: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−200 to 0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Artifact rejection: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±100 µV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peak amplitude cutoff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Moving-window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(200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width, 50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step)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MIN_TRIALS ≥ 30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condition inclusion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subject ERPs, grand averages, peak tables, and plots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P300 window: 250-500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57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44FB-6A24-A6C4-ADB1-5DEAA474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939" y="373420"/>
            <a:ext cx="5732122" cy="1087735"/>
          </a:xfrm>
        </p:spPr>
        <p:txBody>
          <a:bodyPr/>
          <a:lstStyle/>
          <a:p>
            <a:r>
              <a:rPr lang="en-US" dirty="0"/>
              <a:t>BIN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EA942-029B-5CB0-B68A-FEA058AFFE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19126" y="1801787"/>
            <a:ext cx="5901805" cy="34241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dirty="0"/>
              <a:t>bin 1 - </a:t>
            </a:r>
            <a:r>
              <a:rPr lang="en-US" sz="1800" dirty="0" err="1"/>
              <a:t>TWOBACK_Start_End</a:t>
            </a:r>
            <a:r>
              <a:rPr lang="en-US" sz="1800" dirty="0"/>
              <a:t> - .{620}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dirty="0"/>
              <a:t>bin 2 - TWOBACK_End - .{621}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dirty="0"/>
              <a:t>bin 3 - </a:t>
            </a:r>
            <a:r>
              <a:rPr lang="en-US" sz="1800" dirty="0" err="1"/>
              <a:t>TWOBACK_Block_Start</a:t>
            </a:r>
            <a:r>
              <a:rPr lang="en-US" sz="1800" dirty="0"/>
              <a:t> - .{6211}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dirty="0"/>
              <a:t>bin 4 - </a:t>
            </a:r>
            <a:r>
              <a:rPr lang="en-US" sz="1800" dirty="0" err="1"/>
              <a:t>TWOBACK_Block_End</a:t>
            </a:r>
            <a:r>
              <a:rPr lang="en-US" sz="1800" dirty="0"/>
              <a:t> - .{6212}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b="1" dirty="0"/>
              <a:t>bin 5 - </a:t>
            </a:r>
            <a:r>
              <a:rPr lang="en-US" sz="1800" b="1" dirty="0" err="1"/>
              <a:t>TWOBACK_Normal_Trial_Onset</a:t>
            </a:r>
            <a:r>
              <a:rPr lang="en-US" sz="1800" b="1" dirty="0"/>
              <a:t> - .{6221}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b="1" dirty="0"/>
              <a:t>bin 6 - </a:t>
            </a:r>
            <a:r>
              <a:rPr lang="en-US" sz="1800" b="1" dirty="0" err="1"/>
              <a:t>TWOBACK_Hit_Trial_Onset</a:t>
            </a:r>
            <a:r>
              <a:rPr lang="en-US" sz="1800" b="1" dirty="0"/>
              <a:t> - .{6222}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dirty="0"/>
              <a:t>bin 7 - </a:t>
            </a:r>
            <a:r>
              <a:rPr lang="en-US" sz="1800" dirty="0" err="1"/>
              <a:t>TWOBACK_Conflict_Trial_Onset</a:t>
            </a:r>
            <a:r>
              <a:rPr lang="en-US" sz="1800" dirty="0"/>
              <a:t> - .{6223}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dirty="0"/>
              <a:t>bin 8 - </a:t>
            </a:r>
            <a:r>
              <a:rPr lang="en-US" sz="1800" dirty="0" err="1"/>
              <a:t>TWOBACK_Error_Response</a:t>
            </a:r>
            <a:r>
              <a:rPr lang="en-US" sz="1800" dirty="0"/>
              <a:t> - .{6231}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dirty="0"/>
              <a:t>bin 9 - </a:t>
            </a:r>
            <a:r>
              <a:rPr lang="en-US" sz="1800" dirty="0" err="1"/>
              <a:t>TWOBACK_Correct_Response</a:t>
            </a:r>
            <a:r>
              <a:rPr lang="en-US" sz="1800" dirty="0"/>
              <a:t> - .{6232}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dirty="0"/>
              <a:t>bin 10 - </a:t>
            </a:r>
            <a:r>
              <a:rPr lang="en-US" sz="1800" dirty="0" err="1"/>
              <a:t>TWOBACK_Conflict_Error</a:t>
            </a:r>
            <a:r>
              <a:rPr lang="en-US" sz="1800" dirty="0"/>
              <a:t> - .{6233}</a:t>
            </a:r>
          </a:p>
        </p:txBody>
      </p:sp>
    </p:spTree>
    <p:extLst>
      <p:ext uri="{BB962C8B-B14F-4D97-AF65-F5344CB8AC3E}">
        <p14:creationId xmlns:p14="http://schemas.microsoft.com/office/powerpoint/2010/main" val="395102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9347-E42D-F1D7-8917-5CAA156C1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572" y="382847"/>
            <a:ext cx="4497211" cy="767223"/>
          </a:xfrm>
        </p:spPr>
        <p:txBody>
          <a:bodyPr/>
          <a:lstStyle/>
          <a:p>
            <a:r>
              <a:rPr lang="en-US" dirty="0"/>
              <a:t>Subject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A249AD-E194-7B1E-3D0E-ADF2F5B9618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99" y="1983419"/>
            <a:ext cx="5539479" cy="336157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C576B2-3769-945C-6ABD-F50DC02F3E95}"/>
              </a:ext>
            </a:extLst>
          </p:cNvPr>
          <p:cNvSpPr txBox="1"/>
          <p:nvPr/>
        </p:nvSpPr>
        <p:spPr>
          <a:xfrm>
            <a:off x="6096000" y="2094546"/>
            <a:ext cx="495545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Excluded non-EEG channels for ICA/bad-channel detection: ECG1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Auto-detected 2 bad channels by 2-SD rule: P8, TP8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Interpolated 2 channels and restored to scalp montage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ICA finished: 59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8 ICs: [1 3 4 5 8 29 31 54]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Saved per-bin trial counts CSV (10 bins).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Counts: [0 0 2 3 94 48 0 3 49 13]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Bins passing threshold: [5 6 9]</a:t>
            </a:r>
          </a:p>
        </p:txBody>
      </p:sp>
    </p:spTree>
    <p:extLst>
      <p:ext uri="{BB962C8B-B14F-4D97-AF65-F5344CB8AC3E}">
        <p14:creationId xmlns:p14="http://schemas.microsoft.com/office/powerpoint/2010/main" val="234062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C386-6E24-D121-1806-B1DF3E01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01125"/>
            <a:ext cx="10219282" cy="653020"/>
          </a:xfrm>
        </p:spPr>
        <p:txBody>
          <a:bodyPr/>
          <a:lstStyle/>
          <a:p>
            <a:r>
              <a:rPr lang="en-US" dirty="0"/>
              <a:t>Subject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A6CF1-D069-DB96-FDE3-1D5F634A6A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559F7-BFDB-3FBA-AF34-E40E16951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01" y="824630"/>
            <a:ext cx="10760372" cy="58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19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03052-B910-5B8B-CE14-65E050F4D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EDB3E-0B8D-B78B-368D-1D31DBFF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572" y="382847"/>
            <a:ext cx="4497211" cy="767223"/>
          </a:xfrm>
        </p:spPr>
        <p:txBody>
          <a:bodyPr/>
          <a:lstStyle/>
          <a:p>
            <a:r>
              <a:rPr lang="en-US" dirty="0"/>
              <a:t>Subject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B1EB6-8D65-F535-72B9-1997D8AAFAB4}"/>
              </a:ext>
            </a:extLst>
          </p:cNvPr>
          <p:cNvSpPr txBox="1"/>
          <p:nvPr/>
        </p:nvSpPr>
        <p:spPr>
          <a:xfrm>
            <a:off x="6096000" y="2094546"/>
            <a:ext cx="495545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Excluded non-EEG channels for ICA/bad-channel detection: ECG1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Auto-detected 3 bad channels by 2-SD rule: Fp1, T7, AF8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Interpolated 3 channels and restored to scalp montage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ICA finished: 58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9 ICs: [2 5 8 12 16 17 18 23 29]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Saved per-bin trial counts CSV (10 bins).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Counts: [0 0 2 3 96 48 0 3 51 13]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Bins passing threshold: [5 6 9]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9AB2C82-1144-20DE-66E0-237DC7EC8FB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51" y="1859339"/>
            <a:ext cx="5586614" cy="3374528"/>
          </a:xfrm>
        </p:spPr>
      </p:pic>
    </p:spTree>
    <p:extLst>
      <p:ext uri="{BB962C8B-B14F-4D97-AF65-F5344CB8AC3E}">
        <p14:creationId xmlns:p14="http://schemas.microsoft.com/office/powerpoint/2010/main" val="147762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58B45-58AE-5C22-3E47-69329CEF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A78A-02D4-D369-2491-753D6CD49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01125"/>
            <a:ext cx="10219282" cy="653020"/>
          </a:xfrm>
        </p:spPr>
        <p:txBody>
          <a:bodyPr/>
          <a:lstStyle/>
          <a:p>
            <a:r>
              <a:rPr lang="en-US" dirty="0"/>
              <a:t>Subject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C24A3-56F1-20BD-1F8D-0F36190029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D669D-9D22-6F11-848A-4485BE39D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01" y="754145"/>
            <a:ext cx="10760372" cy="58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4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D815D-1D36-83EF-2708-D8A3EF6DD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8561-EBBD-7705-7838-6DE50886C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572" y="382847"/>
            <a:ext cx="4497211" cy="767223"/>
          </a:xfrm>
        </p:spPr>
        <p:txBody>
          <a:bodyPr/>
          <a:lstStyle/>
          <a:p>
            <a:r>
              <a:rPr lang="en-US" dirty="0"/>
              <a:t>Subject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5D4DD-D73B-99CD-3D32-D761870A5111}"/>
              </a:ext>
            </a:extLst>
          </p:cNvPr>
          <p:cNvSpPr txBox="1"/>
          <p:nvPr/>
        </p:nvSpPr>
        <p:spPr>
          <a:xfrm>
            <a:off x="6096000" y="2094546"/>
            <a:ext cx="495545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Excluded non-EEG channels for ICA/bad-channel detection: ECG1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Auto-detected 3 bad channels by 2-SD rule: Fp1, Fp2, AF8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Interpolated 3 channels and restored to scalp montage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ICA finished: 58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5 ICs: [8 12 13 18 27]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Saved per-bin trial counts CSV (10 bins).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Counts: [0 0 2 3 90 47 0 4 18 6]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Bins passing threshold: [5 6]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D1D48DC-CBF1-D4E1-6A3D-F31DFD2DE3F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70" y="1964567"/>
            <a:ext cx="5572207" cy="3269300"/>
          </a:xfrm>
        </p:spPr>
      </p:pic>
    </p:spTree>
    <p:extLst>
      <p:ext uri="{BB962C8B-B14F-4D97-AF65-F5344CB8AC3E}">
        <p14:creationId xmlns:p14="http://schemas.microsoft.com/office/powerpoint/2010/main" val="2399967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900AE-6905-314F-E878-7A31E4F3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87B7-0EF2-7BED-9B8D-578735764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01125"/>
            <a:ext cx="10219282" cy="653020"/>
          </a:xfrm>
        </p:spPr>
        <p:txBody>
          <a:bodyPr/>
          <a:lstStyle/>
          <a:p>
            <a:r>
              <a:rPr lang="en-US" dirty="0"/>
              <a:t>Subject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020F5-A367-D000-F72D-437BC5AD8C7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8AC0A2-D5A3-AC5D-CBB7-A481813E7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93" y="821767"/>
            <a:ext cx="10691787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21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B7D2-73E3-1EC6-9A60-CB9337EE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AFADD-6D56-80BD-E025-2BEAA0D3A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01125"/>
            <a:ext cx="10219282" cy="653020"/>
          </a:xfrm>
        </p:spPr>
        <p:txBody>
          <a:bodyPr/>
          <a:lstStyle/>
          <a:p>
            <a:r>
              <a:rPr lang="en-US" dirty="0"/>
              <a:t>Grand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047B0-2278-DD24-23DA-34B5272D66D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ED3E4-FBDB-1030-C70A-18090F628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42" y="754145"/>
            <a:ext cx="10729890" cy="582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77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E4CA-938C-7291-1119-47B5F865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871" y="200542"/>
            <a:ext cx="5006257" cy="663527"/>
          </a:xfrm>
        </p:spPr>
        <p:txBody>
          <a:bodyPr>
            <a:normAutofit fontScale="90000"/>
          </a:bodyPr>
          <a:lstStyle/>
          <a:p>
            <a:r>
              <a:rPr lang="en-US" dirty="0"/>
              <a:t>Peak amplitude statistics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B35AE00-24BD-DDBE-1E41-DD5EA4D8BCF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09" y="1638323"/>
            <a:ext cx="6192827" cy="44234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3C829B-4F0B-27B2-E4DC-52F93E9E2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81" y="1064695"/>
            <a:ext cx="4744521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48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B3941-62FE-CCC2-BDD9-699A45AB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104" y="100044"/>
            <a:ext cx="5967792" cy="899198"/>
          </a:xfrm>
        </p:spPr>
        <p:txBody>
          <a:bodyPr/>
          <a:lstStyle/>
          <a:p>
            <a:r>
              <a:rPr lang="en-US" dirty="0"/>
              <a:t>Peak amplitude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6D7574-E280-8E9F-F9FF-7879E5C8F41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50203" y="1356853"/>
            <a:ext cx="7419521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Pz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amplitude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Hit = 6.29 µV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Normal = 3.73 µV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mean difference = +2.56 µV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cap="none" dirty="0">
                <a:latin typeface="Arial" panose="020B0604020202020204" pitchFamily="34" charset="0"/>
              </a:rPr>
              <a:t>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argets produced larger P300s than non-targets.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bootstrap 95% confidence interval for the paired mean difference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[1.17, 4.12] µV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and paired Cohen’s d ≈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1.72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That means the effect is reasonably large and the bootstrap suggests the difference is plausibly positive, not just noise.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linear mixed model (LME) reports the Hit effect as highly significant (β = 2.56 µV, p &lt; 0.001), while the paired permutation test (on only the 3 complete pairs) returned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 = 0.259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happens because LME uses all available rows and assumes a parametric model.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permutation test is nonparametric and uses only the paired subjects (very low power at N=3).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takeaway: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amplitude consistently points to Hit &gt; Normal, but small N makes some tests inconclusive.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Larger P300 amplitude for Hits is consistent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greater allocation of attention/working-memory updating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target stimuli.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cap="none" dirty="0">
                <a:latin typeface="Arial" panose="020B0604020202020204" pitchFamily="34" charset="0"/>
              </a:rPr>
              <a:t>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argets elicited stronger neural responses in the expected parietal location.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955F9-42E8-9A0E-0656-95A6CD2E1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724" y="1335946"/>
            <a:ext cx="4544260" cy="533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13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D60FB-C6A6-34AA-9E4D-8E8117A78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72E9-E0FD-D944-96E5-93CA96C92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871" y="200542"/>
            <a:ext cx="5006257" cy="663527"/>
          </a:xfrm>
        </p:spPr>
        <p:txBody>
          <a:bodyPr>
            <a:normAutofit fontScale="90000"/>
          </a:bodyPr>
          <a:lstStyle/>
          <a:p>
            <a:r>
              <a:rPr lang="en-US" dirty="0"/>
              <a:t>Peak latency statistics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4AC8E6-0E69-23A1-7B49-C54ED8669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5" y="1005675"/>
            <a:ext cx="4976291" cy="556308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3755902-47CB-3F9F-4478-08E00F6E548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954" y="1565684"/>
            <a:ext cx="6228063" cy="4448616"/>
          </a:xfrm>
        </p:spPr>
      </p:pic>
    </p:spTree>
    <p:extLst>
      <p:ext uri="{BB962C8B-B14F-4D97-AF65-F5344CB8AC3E}">
        <p14:creationId xmlns:p14="http://schemas.microsoft.com/office/powerpoint/2010/main" val="1911627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9E14-EB2D-B370-C016-D42E9403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9A0E-D8A4-00DE-9D66-7EA3673CC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104" y="100044"/>
            <a:ext cx="5967792" cy="899198"/>
          </a:xfrm>
        </p:spPr>
        <p:txBody>
          <a:bodyPr/>
          <a:lstStyle/>
          <a:p>
            <a:r>
              <a:rPr lang="en-US" dirty="0"/>
              <a:t>Peak latency Results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91FC295-B73E-049A-21E6-80A4BFDD767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24192" y="1881704"/>
            <a:ext cx="6525290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Pz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latency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Hit = 425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= 351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difference ≈ +74.7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(Hit later).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Hits peaked later than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en-US" sz="1600" cap="none" dirty="0">
              <a:latin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LME shows a trend (β ≈ +74.7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 = 0.081) but the paired permutation test gave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 = 0.505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the bootstrap 95% CI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[−28, 144]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(includes zero).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cap="none" dirty="0">
                <a:latin typeface="Arial" panose="020B060402020202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lthough latencies shift in the expected direction, the evidence is weak and not reliable with this sample size.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 estimates are more sensitive to noise and peak shape than amplitudes, especially with few trials/subjects.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single noisy peak can swing the latency a lot.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Amplitude (mean/peak size) tends to be more robust in small datasets.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BD76EA-A2E6-4814-960E-42AFA1647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82" y="999242"/>
            <a:ext cx="4976291" cy="556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31169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695</TotalTime>
  <Words>1040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Droplet</vt:lpstr>
      <vt:lpstr>COG-BCI dataset ERP analysis on the two-back test from 3 subjects</vt:lpstr>
      <vt:lpstr>Preprocessing steps</vt:lpstr>
      <vt:lpstr>BIN description</vt:lpstr>
      <vt:lpstr>Subject 1</vt:lpstr>
      <vt:lpstr>Subject 1</vt:lpstr>
      <vt:lpstr>Subject 3</vt:lpstr>
      <vt:lpstr>Subject 3</vt:lpstr>
      <vt:lpstr>Subject 4</vt:lpstr>
      <vt:lpstr>Subject 4</vt:lpstr>
      <vt:lpstr>Grand average</vt:lpstr>
      <vt:lpstr>Peak amplitude statistics</vt:lpstr>
      <vt:lpstr>Peak amplitude Results</vt:lpstr>
      <vt:lpstr>Peak latency statistics</vt:lpstr>
      <vt:lpstr>Peak latency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Danial Daniyaruly</dc:creator>
  <cp:lastModifiedBy>Danial Daniyaruly</cp:lastModifiedBy>
  <cp:revision>15</cp:revision>
  <dcterms:created xsi:type="dcterms:W3CDTF">2025-11-08T09:38:06Z</dcterms:created>
  <dcterms:modified xsi:type="dcterms:W3CDTF">2025-12-10T14:58:34Z</dcterms:modified>
</cp:coreProperties>
</file>